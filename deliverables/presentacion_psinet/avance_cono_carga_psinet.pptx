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2e31b481646c4" /><Relationship Type="http://schemas.openxmlformats.org/officeDocument/2006/relationships/extended-properties" Target="/docProps/app.xml" Id="R1b0a6e7368e44c25" /><Relationship Type="http://schemas.openxmlformats.org/officeDocument/2006/relationships/officeDocument" Target="/ppt/presentation.xml" Id="Rced7f80a1d014f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f2492ef324471"/>
  </p:sldMasterIdLst>
  <p:notesMasterIdLst>
    <p:notesMasterId xmlns:r="http://schemas.openxmlformats.org/officeDocument/2006/relationships" r:id="Rb4f41e91b4374fc6"/>
  </p:notesMasterIdLst>
  <p:sldIdLst>
    <p:sldId xmlns:r="http://schemas.openxmlformats.org/officeDocument/2006/relationships" id="256" r:id="R5f8e1f9f71a04491"/>
    <p:sldId xmlns:r="http://schemas.openxmlformats.org/officeDocument/2006/relationships" id="257" r:id="R69d6a1438a414899"/>
    <p:sldId xmlns:r="http://schemas.openxmlformats.org/officeDocument/2006/relationships" id="258" r:id="R012181fddc25458d"/>
    <p:sldId xmlns:r="http://schemas.openxmlformats.org/officeDocument/2006/relationships" id="259" r:id="R253c690abaa14aa1"/>
    <p:sldId xmlns:r="http://schemas.openxmlformats.org/officeDocument/2006/relationships" id="260" r:id="Rfb53db2a70ec4607"/>
    <p:sldId xmlns:r="http://schemas.openxmlformats.org/officeDocument/2006/relationships" id="261" r:id="R7c339c9706c346f5"/>
    <p:sldId xmlns:r="http://schemas.openxmlformats.org/officeDocument/2006/relationships" id="262" r:id="Rc2d2fc2e337f4260"/>
    <p:sldId xmlns:r="http://schemas.openxmlformats.org/officeDocument/2006/relationships" id="263" r:id="Red020f5f8c0746ee"/>
    <p:sldId xmlns:r="http://schemas.openxmlformats.org/officeDocument/2006/relationships" id="264" r:id="Rd9c4a5ac6f2745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72738ff84491e" /><Relationship Type="http://schemas.openxmlformats.org/officeDocument/2006/relationships/slideMaster" Target="/ppt/slideMasters/slideMaster1.xml" Id="R135f2492ef324471" /><Relationship Type="http://schemas.openxmlformats.org/officeDocument/2006/relationships/notesMaster" Target="/ppt/notesMasters/notesMaster1.xml" Id="Rb4f41e91b4374fc6" /><Relationship Type="http://schemas.openxmlformats.org/officeDocument/2006/relationships/presProps" Target="/ppt/presProps.xml" Id="R0d48e05c8a344863" /><Relationship Type="http://schemas.openxmlformats.org/officeDocument/2006/relationships/tableStyles" Target="/ppt/tableStyles.xml" Id="R07c7d3483c904ff2" /><Relationship Type="http://schemas.openxmlformats.org/officeDocument/2006/relationships/slide" Target="/ppt/slides/slide1.xml" Id="R5f8e1f9f71a04491" /><Relationship Type="http://schemas.openxmlformats.org/officeDocument/2006/relationships/slide" Target="/ppt/slides/slide2.xml" Id="R69d6a1438a414899" /><Relationship Type="http://schemas.openxmlformats.org/officeDocument/2006/relationships/slide" Target="/ppt/slides/slide3.xml" Id="R012181fddc25458d" /><Relationship Type="http://schemas.openxmlformats.org/officeDocument/2006/relationships/slide" Target="/ppt/slides/slide4.xml" Id="R253c690abaa14aa1" /><Relationship Type="http://schemas.openxmlformats.org/officeDocument/2006/relationships/slide" Target="/ppt/slides/slide5.xml" Id="Rfb53db2a70ec4607" /><Relationship Type="http://schemas.openxmlformats.org/officeDocument/2006/relationships/slide" Target="/ppt/slides/slide6.xml" Id="R7c339c9706c346f5" /><Relationship Type="http://schemas.openxmlformats.org/officeDocument/2006/relationships/slide" Target="/ppt/slides/slide7.xml" Id="Rc2d2fc2e337f4260" /><Relationship Type="http://schemas.openxmlformats.org/officeDocument/2006/relationships/slide" Target="/ppt/slides/slide8.xml" Id="Red020f5f8c0746ee" /><Relationship Type="http://schemas.openxmlformats.org/officeDocument/2006/relationships/slide" Target="/ppt/slides/slide9.xml" Id="Rd9c4a5ac6f27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8c2c57a4af42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579b8783a4e42" /><Relationship Type="http://schemas.openxmlformats.org/officeDocument/2006/relationships/notesMaster" Target="/ppt/notesMasters/notesMaster1.xml" Id="Rfc8a763b855140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346977d0254daa" /><Relationship Type="http://schemas.openxmlformats.org/officeDocument/2006/relationships/notesMaster" Target="/ppt/notesMasters/notesMaster1.xml" Id="R9c152c36dffa40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2d9734060a4e7f" /><Relationship Type="http://schemas.openxmlformats.org/officeDocument/2006/relationships/notesMaster" Target="/ppt/notesMasters/notesMaster1.xml" Id="Rb12e18da499546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07ba7aa5304371" /><Relationship Type="http://schemas.openxmlformats.org/officeDocument/2006/relationships/notesMaster" Target="/ppt/notesMasters/notesMaster1.xml" Id="R8bdd80b2392a4a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7a53cedd4643bf" /><Relationship Type="http://schemas.openxmlformats.org/officeDocument/2006/relationships/notesMaster" Target="/ppt/notesMasters/notesMaster1.xml" Id="R7fc3fd248ce9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1beb0c49948e7" /><Relationship Type="http://schemas.openxmlformats.org/officeDocument/2006/relationships/notesMaster" Target="/ppt/notesMasters/notesMaster1.xml" Id="R6a87fe365c6c45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115c49ba3b48d6" /><Relationship Type="http://schemas.openxmlformats.org/officeDocument/2006/relationships/notesMaster" Target="/ppt/notesMasters/notesMaster1.xml" Id="R791e5fb4e2b542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c39f2897804d19" /><Relationship Type="http://schemas.openxmlformats.org/officeDocument/2006/relationships/notesMaster" Target="/ppt/notesMasters/notesMaster1.xml" Id="R9324f817dad048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220605d2334af9" /><Relationship Type="http://schemas.openxmlformats.org/officeDocument/2006/relationships/notesMaster" Target="/ppt/notesMasters/notesMaster1.xml" Id="R23b4f5b9b54a43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07fc104d341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76ee440fb4cab" /><Relationship Type="http://schemas.openxmlformats.org/officeDocument/2006/relationships/slideLayout" Target="/ppt/slideLayouts/slideLayout1.xml" Id="R6e2e2d09db31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e2d09db31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a1c4d041c4c27" /><Relationship Type="http://schemas.openxmlformats.org/officeDocument/2006/relationships/image" Target="/ppt/media/image.jpeg" Id="R9fd13c1d9a094035" /><Relationship Type="http://schemas.openxmlformats.org/officeDocument/2006/relationships/notesSlide" Target="/ppt/notesSlides/notesSlide1.xml" Id="R0ce32a1a34fe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7e1c2f74e445c" /><Relationship Type="http://schemas.openxmlformats.org/officeDocument/2006/relationships/notesSlide" Target="/ppt/notesSlides/notesSlide2.xml" Id="Re7e225d158664b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9b5c374194feb" /><Relationship Type="http://schemas.openxmlformats.org/officeDocument/2006/relationships/notesSlide" Target="/ppt/notesSlides/notesSlide3.xml" Id="R096be6b657f547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a76f6e6dc4d54" /><Relationship Type="http://schemas.openxmlformats.org/officeDocument/2006/relationships/notesSlide" Target="/ppt/notesSlides/notesSlide4.xml" Id="Rd2fb35428f27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63eadae7f4301" /><Relationship Type="http://schemas.openxmlformats.org/officeDocument/2006/relationships/image" Target="/ppt/media/image2.jpeg" Id="R7b7fb848638a49a0" /><Relationship Type="http://schemas.openxmlformats.org/officeDocument/2006/relationships/notesSlide" Target="/ppt/notesSlides/notesSlide5.xml" Id="R6a7c9a344de44e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3bb12137640f1" /><Relationship Type="http://schemas.openxmlformats.org/officeDocument/2006/relationships/notesSlide" Target="/ppt/notesSlides/notesSlide6.xml" Id="R80634c09335449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e350fcd604dc9" /><Relationship Type="http://schemas.openxmlformats.org/officeDocument/2006/relationships/notesSlide" Target="/ppt/notesSlides/notesSlide7.xml" Id="R515168253b584c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60643df74108" /><Relationship Type="http://schemas.openxmlformats.org/officeDocument/2006/relationships/notesSlide" Target="/ppt/notesSlides/notesSlide8.xml" Id="Rc82263b6599441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2ab0b25794fb5" /><Relationship Type="http://schemas.openxmlformats.org/officeDocument/2006/relationships/notesSlide" Target="/ppt/notesSlides/notesSlide9.xml" Id="Rd116ca2bf2c043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13c1d9a094035"/>
          <a:srcRect xmlns:a="http://schemas.openxmlformats.org/drawingml/2006/main" l="28516" t="0" r="285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8D446-D3A6-4E33-856F-E69939F1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Avance proyecto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Cono de Carga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E296B-2062-41A6-AD23-8E1CE42D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Analitico de vision computacional para forma visible de carga en CAEX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1973F-99B8-4AB6-A721-43CD911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16C14-0FDF-4421-AB9E-9BDA348A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4D"/>
                </a:solidFill>
              </a:defRPr>
            </a:pPr>
            <a:r>
              <a:rPr sz="1650" b="1">
                <a:solidFill>
                  <a:srgbClr val="1F7A4D"/>
                </a:solidFill>
              </a:rPr>
              <a:t>Estado: prototipo funcional integrado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AAD04-A39A-4C1A-A141-6FEE79F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Videos -&gt; YOLO -&gt; analitico -&gt; veredicto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ADCD4-2D70-40D9-BF36-5840264D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Gerencia General | Junio 2026</a:t>
            </a:r>
          </a:p>
        </p:txBody>
      </p:sp>
    </p:spTree>
    <p:extLst>
      <p:ext uri="{BB962C8B-B14F-4D97-AF65-F5344CB8AC3E}">
        <p14:creationId xmlns:p14="http://schemas.microsoft.com/office/powerpoint/2010/main" val="1607640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BB809-E2B4-4223-A105-560FF32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Mensaje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46FE0-07DB-40CE-8FB2-36A16A1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 avance ya integra captura, percepcion, analitica y revision visual.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0A5AF-1604-4625-B957-49ED599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75612-9DCE-43B3-BC5D-0224D191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Ya existe un flujo end-to-end que procesa videos de CAEX y entrega un veredicto revisable por video.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E256-7029-4004-9290-476D1E09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EA164-258B-417A-8F36-3988CF2B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DA4A8-BC3E-4AD5-AFD9-7F410917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bloques integrados: extractor, YOLO y analitico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10B85-B549-4D67-BCE9-88BEA2C9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87080-7615-457C-BB58-0494A740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99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7A4D"/>
                </a:solidFill>
              </a:defRPr>
            </a:pPr>
            <a:r>
              <a:rPr sz="3300" b="1">
                <a:solidFill>
                  <a:srgbClr val="1F7A4D"/>
                </a:solidFill>
              </a:rPr>
              <a:t>20/20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29909-0715-45E3-8591-ED2307F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95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frames validos en prueba demostrativa reciente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39945-8ABF-4C1E-9E12-795D121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38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D4D42-532B-4D56-A9BB-B89231C3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DEB90-D30F-4205-9B81-E3E22EE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confianza del veredicto en esa corrida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00253-EF92-4652-8D06-E6830753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No se presenta aun como sistema productivo; la siguiente etapa es validacion con mayor diversidad de datos y criterio operacional.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F084C-2474-469C-99B8-C8FFA642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ED812-6F4C-49D7-9EE5-15B1D9C2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4079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F11476-6587-4CEC-8891-87D09BA3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Problema que aborda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49E52-09B4-491A-9969-3E35D7EF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Estandarizar la revision visual de la forma de carga en camiones CAEX.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8A34D-6613-4D0B-BFF8-96E7F55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3342F-4735-4641-BB5E-FBF8D13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E9B92-3F46-409F-961E-70752E49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Hoy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6FC7-048C-42B5-BE7F-DFCDABF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Revision visual manual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Dependencia del observador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Dificil comparar muchos videos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Baja trazabilidad de criterios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98780-7CF4-4606-8920-30FCBBF0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093CC-B13B-4680-8822-829645B1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Con el prototipo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F5F2F-1705-46DF-8F78-7B1F1C45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Mascara visible de la carga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Mediciones geometricas consistentes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Clasificacion centrado / izquierda / derecha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- Overlays y CSV para auditoria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0E891-34E6-446E-88A9-DD4E60BB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Alcance actual: forma visible de la carga; no es una medicion fisica del payload ni del centro de masa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47FD6-EF3D-4681-975D-F9CB074B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305FB-4F77-4C1D-96A8-26458AF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7417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854D9-4F0F-436D-B608-74826EE5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Como se juntaron las piezas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8D825-420A-4E97-B940-E244CEA5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Un orquestador conecta cada modulo mediante archivos intermedios.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D6184-82B1-4326-BC29-53379163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1B76-5365-4499-BAE7-E24EC719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EAC55-995F-4436-82F2-36F14907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3F1A6-7C18-48A3-AA77-9D5C5A48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Videos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75590-7D99-4154-B7EA-968AA964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Carpeta local o carga desde web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6074B-5ED0-4D9F-9647-7BCCC9EA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0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70DFF-0F86-4DA2-9BCB-9E860FD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CC9C0-3B54-477B-B184-B187D1B5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Frames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3DD6E-0C46-46CA-956D-05759416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OpenCV extrae JPG por intervalo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9BF85-22F8-47C4-BC6F-954B8F05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9FDB7-CC2F-4CBA-B41F-0C8A5A3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8C295-015E-4134-B800-9C123BE0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71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YOLO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37DCD-8CB5-494E-9FD7-2CD36822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Docker ejecuta segmentacion de carga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55285-B66A-418E-B138-D5E929E0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A7750-D555-47BA-A179-98326F12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D8BCF-1BEE-460C-8E15-BB36BE7E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Analitico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24610-5827-474D-A7A3-B6009BAD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Perfil, pico, simetria interna y clase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255BD-A56D-47A3-8FBC-604B5309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8ADBF-2D18-4639-9039-947C5906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E2ECC-1DF9-4793-8F8A-58D5F014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Resultados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534D0-F70C-4CA0-B383-E1ACCFC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33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Overlays, CSV, JSON y veredicto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54D65-9247-4104-B0FF-96CB49CE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241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9EB9E-8D79-4041-979A-B781DD7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9BDB7-4C34-4C20-8068-80C1573A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C6E859-A88C-411C-B6BA-241A1C3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22A21-BBE3-444B-82DD-22B92167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D454CB-CD7A-4F79-92EA-4772AE30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Punto clave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920F6-DA81-4D59-BF23-FCFE7E00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Cada etapa conserva su independencia. El pipeline solo define orden, rutas y formatos: frames JPG, mascaras PNG, features CSV y resumen JSON.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768E64-A68C-4547-ABFE-FCA9F26C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9EC27-378B-43E0-9A49-DA80983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0253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D58AE1-C960-419E-9E9D-80B86C53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Evidencia de funcionamiento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87CAA-D690-4E53-8ACA-2C74B0AA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Salida visual y numerica generada por una corrida reciente.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3942B-8308-40DE-8AE8-7047413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fb848638a49a0"/>
          <a:srcRect xmlns:a="http://schemas.openxmlformats.org/drawingml/2006/main" l="291" t="0" r="2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DC1D1-24E2-4BBA-B6EE-AA3F4B3E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238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341BE-1492-4AB9-AA4A-86767108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Corrida demostrativa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C7B12-0B23-4A5A-A555-B999AC40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724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Video: CAEX vista posterior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Frames analizados: 20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Frames validos: 20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No evaluables: 0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Veredicto: carga centrada</a:t>
            </a:r>
          </a:p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Confianza: 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0BD80-28AB-4D07-B0C4-1120361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 overlay permite auditar visualmente la mascara, el bounding box, el eje central, el pico y la clase asignada.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E58BE-551B-4A92-8391-7232C60C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9790B-4809-420B-A153-E7D3F103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75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D82A4-9FC0-4418-ADFC-B403A6A0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Estado por componente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0260E-79CF-47B2-B2EA-F8E729CD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Lo desarrollado hasta ahora y su nivel de madurez.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C24F5-7480-44B7-88AC-C04298CA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8DA68-3CD6-4D22-B013-3940D01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8966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B961-EB24-47D7-961B-7C613B29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Componente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28CFB-8AAD-425D-9D3C-F8D2ED3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431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7FB06-B87C-4D5D-89B3-25C1E7B0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D8281-CC45-4A28-9E96-21FF4EC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6D65F-D2D5-4B86-926D-B8974836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Datos y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0514F-D6C7-44F3-B06F-9A2DDD07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Carga local de videos; extraccion configurable por intervalo; manifiestos por video y frame.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58C7C-C1F2-4B14-8426-3F650960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Funcional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F514A-8877-4E4E-BF99-2F64995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34094-93D9-4EFF-8559-F4E9C80A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YOLO-seg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4553F-738B-499D-876F-D89B9686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Repositorio de entrenamiento, Docker GPU, MLflow y modelo de referencia best.pt integrado al pipeline.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3EFAB-C56D-4E3C-A562-B38C565E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28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Funcional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3B896-F4E3-4D46-BD46-44DC37A3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9248D-295B-4005-9F88-969E27BD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Analitico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9A1CB-48AF-4E77-BB2E-55BDC83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Features geometricas, descarte por bordes, clasificacion centrado/izquierda/derecha y overlays.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847CF-AE47-4588-BE22-8D4C8EE3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4D"/>
                </a:solidFill>
              </a:defRPr>
            </a:pPr>
            <a:r>
              <a:rPr sz="1350" b="1">
                <a:solidFill>
                  <a:srgbClr val="1F7A4D"/>
                </a:solidFill>
              </a:rPr>
              <a:t>Funcional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479FA-D35A-4CDB-A963-536A556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63404-40DF-45DE-BBF1-11D6BB6C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45E8E-243B-4D15-9184-C059438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338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Orquestacion videos -&gt; frames -&gt; mascaras -&gt; features -&gt; veredicto por video.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7EFFA-FA6D-4CB5-A7A0-427FCAD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33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Integrado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6AF61-82F3-4737-8C41-6BE8B9D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23439-F0C2-4A37-BC18-9BFC7B9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Web app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A0467-CB46-474A-A009-D5F2345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Carga de videos, consola en vivo, overlays, estadisticas y descargas.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02559-8315-433E-B22B-018E3ED0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86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Demo operativa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2943D-7762-4713-A3B1-3F79FF5C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Maturidad global: prototipo tecnico integrado, listo para validacion ampliada.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97109-AD6A-4997-8199-F8F5F1C5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81D379-D786-4525-ABAD-15E5D3F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6920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F27AD-2AFD-4296-BC82-424D93AC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Herramientas utilizadas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9C09D-B6DA-4E5E-9E23-E497E0F0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Tecnologias simples, trazables y separadas por responsabilidad.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94C20-AA7E-4F1E-BD83-47344711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FFBA-633F-4459-B5E7-17BF4010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3405E-E193-4B6E-81EC-0E11EACD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Python + OpenCV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0E357-1C94-4F68-834E-6FA0F44E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Extraccion de frames y procesamiento de imagenes.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732E2-9244-4D1D-8423-7C589B0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3E3ED-2950-4D64-A7FE-607E22E8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YOLO / Ultralytics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C4F3-B615-4D01-9E40-04FBC2F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Segmentacion automatica de carga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752A9-ED3D-482C-B187-0885394F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29DB2-4010-4AA4-AB7F-952983C8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Docker +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A0A30-3484-404E-BC17-2D7E62C0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Entorno reproducible para inferencia y entrenamiento YOLO.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F5447-840C-43E0-8AC5-66E452B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1B4C1-9AD4-47FD-B114-1D4CE25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NumPy / SciPy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CB63-0C9F-4E5C-A592-9F57626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Calculo geometrico: perfil, pico, simetria e irregularidad.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E9CB5-2EBF-4F62-AC4B-7B5BCE0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DA65B-6D2F-46FC-A554-20B89B33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Pandas + CSV/JSON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D7365-3A04-4D9B-A718-7BA29754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Tablas trazables y resultados descargables.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2397D-95A4-43ED-A448-F9F1461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D2BC1-1152-464B-A6AB-2D0F82E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Streamlit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979F3-D9E3-4DEC-AECE-FC8CFD3A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</a:defRPr>
            </a:pPr>
            <a:r>
              <a:rPr sz="1350" b="0">
                <a:solidFill>
                  <a:srgbClr val="202020"/>
                </a:solidFill>
              </a:rPr>
              <a:t>Web app local para operar y revisar el flujo completo.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DFE6A-057E-42C9-B9CA-997C74A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La arquitectura evita acoplar los modulos: si mejora el modelo YOLO o el analitico, se mantiene el mismo contrato de archivos.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761AF-BDAA-4937-AD28-AB4F10A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8E73E-0E5E-42FE-ACD4-E258672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6052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59EC46-3824-410A-BDDF-FA3F92C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Riesgos y limites actuales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9CE69-1BDD-4E20-A954-5E8DBDC2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Lo que se debe validar antes de hablar de uso productivo.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086A4-28F6-40F4-9422-B67F7FAF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76311-8BC2-4B73-AC49-5C83F155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Validacion pendiente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E2DD4-B781-4FA3-961E-EB17F73D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- Comparar contra etiquetas humanas en mas videos y condiciones.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- Definir criterios operacionales de aceptacion por gerencia/operaciones.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- Medir estabilidad por camara, horario, polvo, sombras y oclusion.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BC59C-8E52-4D7C-BBC1-C827BBD5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Limitaciones tecnicas conocidas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EF49A-927F-4477-98F8-8C4FB29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762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- Frames donde la carga toca borde se marcan no evaluables.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- El resultado describe forma visible, no balance fisico ni payload real.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- La inferencia YOLO depende hoy de Docker para el entorno GPU.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6DD43-5C18-470A-9ACA-4926313E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458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1D642-2FDA-4467-ADAF-8C07C307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Lectura ejecutiva: el riesgo principal ya no es integrar las piezas; ahora es validar robustez y criterio de negocio.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8E7C0-0749-4057-BE49-68ADCD9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F2131-F2B1-41CA-A2E2-D837A9A7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4449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D6398-08C4-46C4-99A9-F27CBF20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Siguientes decisiones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54C0F-2DC6-415D-8637-4F04750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Para pasar de prototipo integrado a piloto validado.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A617E-CA15-4CE6-9D9E-64C3A7EA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7DE1-6807-4948-8DE2-E1DC880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1908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90B59-0B19-40A8-BB2D-EB5CB4F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D2937-4140-410C-8789-210B91DC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Validar con mas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79D3B-E9B2-464A-B94D-001A72DF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81250"/>
            <a:ext cx="2409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Dataset representativo por camara, hora, clima visual y estado de carga.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5D482-112B-482C-B73F-44B30C6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31908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7F2F0-5099-41AF-BECF-916EDDC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DBDF9-112A-4271-8C6B-8E5DDABA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Cerrar metrica de exito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79B66-668B-441D-9A55-75F734F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2409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Definir indicadores: concordancia con experto, tasa no evaluable y estabilidad por video.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6CD1D-6CED-4607-9BB2-D8EE5C06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31908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B896C-4818-4599-B5BB-FF42262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52418-718B-4BD7-A58F-E5D87002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Diseñar piloto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86D50-43F5-4577-AFD9-0122A504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2409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Seleccionar punto operacional, frecuencia de procesamiento y responsables de revision.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4E55A-4988-4E5C-9705-D4F791BF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62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22148-A651-41EF-A57C-113A5BEB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Apoyo requerido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5E343-DCA9-4C1A-AD6D-5B2A338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386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Acceso a videos representativos, validacion experta de casos, definicion del umbral de aceptacion y alcance del piloto.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60418-4932-4B3A-BCDF-62D2D671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Propuesta: usar el prototipo actual como base para una validacion controlada con trazabilidad de resultados.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63294-9B09-4E1D-BC9F-1495354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Psinet | Cono de Carga CAEX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A6F3F-13D2-4022-AEDD-F93070DC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55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2026-06-25T21:00:35.9660000Z</dcterms:created>
  <dcterms:modified xsi:type="dcterms:W3CDTF">2026-06-25T21:00:35.9660000Z</dcterms:modified>
</coreProperties>
</file>